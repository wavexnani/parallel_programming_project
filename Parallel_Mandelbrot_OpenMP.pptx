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600" b="1">
                <a:solidFill>
                  <a:srgbClr val="FFFFFF"/>
                </a:solidFill>
              </a:defRPr>
            </a:pPr>
            <a:r>
              <a:t>Parallel Mandelbrot Set</a:t>
            </a:r>
            <a:br/>
            <a:r>
              <a:t>with OpenMP</a:t>
            </a:r>
          </a:p>
          <a:p>
            <a:pPr>
              <a:spcAft>
                <a:spcPts val="3000"/>
              </a:spcAft>
              <a:defRPr sz="1600">
                <a:solidFill>
                  <a:srgbClr val="CBD5E1"/>
                </a:solidFill>
              </a:defRPr>
            </a:pPr>
            <a:r>
              <a:t>Static scheduling vs. dynamic load balancing,</a:t>
            </a:r>
            <a:br/>
            <a:r>
              <a:t>benchmarked by self-relative speedup.</a:t>
            </a:r>
          </a:p>
          <a:p>
            <a:pPr>
              <a:defRPr sz="1300" b="1">
                <a:solidFill>
                  <a:srgbClr val="A855F7"/>
                </a:solidFill>
              </a:defRPr>
            </a:pPr>
            <a:r>
              <a:t>Parallel Computing | Project Presentation</a:t>
            </a:r>
          </a:p>
        </p:txBody>
      </p:sp>
      <p:pic>
        <p:nvPicPr>
          <p:cNvPr id="4" name="Picture 3" descr="mandelbr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581C87"/>
                </a:solidFill>
              </a:defRPr>
            </a:pPr>
            <a:r>
              <a:t>Introduction: the task and the tool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81C87"/>
                </a:solidFill>
              </a:defRPr>
            </a:pPr>
            <a:r>
              <a:t>📌 The Task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Compute the Mandelbrot set using the escape-time algorithm, then render it as an image.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Pixel computational cost is highly non-uniform: boundary points escape in 1–5 iterations, while interior points require all 1000 iterations.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Compare static block scheduling with dynamic chunk load balancing across multiple CPU cores.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Measure and analyze self-relative speedup and parallel efficiency.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81C87"/>
                </a:solidFill>
              </a:defRPr>
            </a:pPr>
            <a:r>
              <a:t>⚙️ The Tool: OpenMP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Industry-standard compiler-directed API for shared-memory parallel programming in C, C++, and Fortran.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Parallelism is introduced declaratively via pragmas (e.g. #pragma omp parallel for) and compiled with -fopenmp.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Provides runtime scheduling clauses (schedule(static) vs schedule(dynamic, chunk)) without rewriting algorithm logic.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Includes standard runtime routines: omp_set_num_threads() and omp_get_wtime().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581C87"/>
                </a:solidFill>
              </a:defRPr>
            </a:pPr>
            <a:r>
              <a:t>Parallel computing environment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581C87"/>
                </a:solidFill>
              </a:defRPr>
            </a:pPr>
            <a:r>
              <a:t>Intel Core i5-13420H (SMP, 12 Hardware Threads)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4 Performance Cores (P-cores): 8 threads via Hyper-Threading (up to 4.6 GHz)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4 Efficient Cores (E-cores): 4 single-threaded cores for background throughput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Total Hardware Execution Units: 8 physical cores, 12 logical threads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L1 Cache: 320 KB Data / 384 KB Instruction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L2 Cache: 7 MB dedicated cache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L3 Cache: 12 MB shared unified cache across all cores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Memory Architecture: Unified Main Memory (UMA) in a single physical address 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303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300" b="1">
                <a:solidFill>
                  <a:srgbClr val="581C87"/>
                </a:solidFill>
              </a:defRPr>
            </a:pPr>
            <a:r>
              <a:t>8 Cores, 12 Hardware Threads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Thread counts of 1, 2, 4, 8, and 12 map cleanly onto physical P-cores, E-cores, and Hyper-Threads.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697480"/>
            <a:ext cx="5303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300" b="1">
                <a:solidFill>
                  <a:srgbClr val="581C87"/>
                </a:solidFill>
              </a:defRPr>
            </a:pPr>
            <a:r>
              <a:t>Uniform Shared Memory (UMA)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All OpenMP worker threads see a unified 64-bit address space, writing directly into the output image buffer.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303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300" b="1">
                <a:solidFill>
                  <a:srgbClr val="581C87"/>
                </a:solidFill>
              </a:defRPr>
            </a:pPr>
            <a:r>
              <a:t>Cache-Friendly Row Layout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Each row is stored contiguously in memory, maximizing L1 and L2 spatial cache line hit rates.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5166360"/>
            <a:ext cx="5303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300" b="1">
                <a:solidFill>
                  <a:srgbClr val="581C87"/>
                </a:solidFill>
              </a:defRPr>
            </a:pPr>
            <a:r>
              <a:t>Disjoint Lock-Free Writes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Each thread computes independent rows, completely eliminating mutex contention and false sharing.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581C87"/>
                </a:solidFill>
              </a:defRPr>
            </a:pPr>
            <a:r>
              <a:t>OpenMP: main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581C87"/>
                </a:solidFill>
              </a:defRPr>
            </a:pPr>
            <a:r>
              <a:t>Worksharing [Used here]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#pragma omp parallel for partitions loop iterations across a team of worker threads. Supports sections, single, and reduction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581C87"/>
                </a:solidFill>
              </a:defRPr>
            </a:pPr>
            <a:r>
              <a:t>Loop Scheduling [Used here]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Controls iteration dispatching: schedule(static), schedule(dynamic, chunk), guided, and auto allow flexible trade-offs between overhead and load balance.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581C87"/>
                </a:solidFill>
              </a:defRPr>
            </a:pPr>
            <a:r>
              <a:t>Tasks &amp; Dependencies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omp task with depend clauses constructs dynamic task graphs for irregular parallelism; taskloop divides irregular nested iterations into tasks.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581C87"/>
                </a:solidFill>
              </a:defRPr>
            </a:pPr>
            <a:r>
              <a:t>SIMD &amp; Heterogeneous Offloading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omp simd enforces data vectorization; target directives offload compute kernels to GPUs, DSPs, and attached accelerators.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581C87"/>
                </a:solidFill>
              </a:defRPr>
            </a:pPr>
            <a:r>
              <a:t>Where OpenMP is used in 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 b="1">
                <a:solidFill>
                  <a:srgbClr val="581C87"/>
                </a:solidFill>
              </a:defRPr>
            </a:pPr>
            <a:r>
              <a:t>🌐 Weather &amp; Climate Modeling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ECMWF's Integrated Forecasting System (IFS) and the Weather Research and Forecasting (WRF) model combine OpenMP on multicore nodes with MPI across cluster nodes.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9748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 b="1">
                <a:solidFill>
                  <a:srgbClr val="581C87"/>
                </a:solidFill>
              </a:defRPr>
            </a:pPr>
            <a:r>
              <a:t>🔬 Molecular Dynamics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GROMACS, LAMMPS, and NAMD distribute inter-atomic particle force calculations across threads on shared-memory nodes.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 b="1">
                <a:solidFill>
                  <a:srgbClr val="581C87"/>
                </a:solidFill>
              </a:defRPr>
            </a:pPr>
            <a:r>
              <a:t>📊 High-Performance Numerical Libraries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OpenBLAS, Intel oneMKL, and LAPACK leverage OpenMP to parallelize dense linear algebra operations (GEMM, matrix inversions).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6636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 b="1">
                <a:solidFill>
                  <a:srgbClr val="581C87"/>
                </a:solidFill>
              </a:defRPr>
            </a:pPr>
            <a:r>
              <a:t>⚙️ Engineering Simulation &amp; CFD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OpenFOAM and ANSYS Fluent employ hybrid MPI + OpenMP models for aerodynamic and fluid dynamic simulations.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581C87"/>
                </a:solidFill>
              </a:defRPr>
            </a:pPr>
            <a:r>
              <a:t>The task: escape-time Mandelbrot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581C87"/>
                </a:solidFill>
              </a:defRPr>
            </a:pPr>
            <a:r>
              <a:t>Mathematical Definition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Map each screen pixel (x, y) to a complex number c = cr + i*ci in the region x in [-2.0, 0.5], y in [-1.25, 1.25].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Iterate the quadratic recurrence: z_{n+1} = z_n^2 + c with z_0 = 0.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Escape condition: if |z|^2 = zr^2 + zi^2 &gt; 4.0, sequence diverges.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Stop at escape or when max_iter (1000) is reached. Iteration count is the escape time.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Resolution: 1920 x 1080 Full HD (2,073,600 individual pixels).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Coloring: Escaped pixels colored via standard sine palette; interior set points remain obsidian black.</a:t>
            </a:r>
          </a:p>
        </p:txBody>
      </p:sp>
      <p:pic>
        <p:nvPicPr>
          <p:cNvPr id="5" name="Picture 4" descr="mandelbr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1206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581C87"/>
                </a:solidFill>
              </a:defRPr>
            </a:pPr>
            <a:r>
              <a:t>How the task is parallelized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400"/>
              </a:spcAft>
              <a:defRPr sz="1600" b="1">
                <a:solidFill>
                  <a:srgbClr val="E11D48"/>
                </a:solidFill>
              </a:defRPr>
            </a:pPr>
            <a:r>
              <a:t>No Task Dependencies</a:t>
            </a:r>
          </a:p>
          <a:p>
            <a:pPr>
              <a:spcAft>
                <a:spcPts val="1400"/>
              </a:spcAft>
              <a:defRPr sz="1200" b="1">
                <a:solidFill>
                  <a:srgbClr val="581C87"/>
                </a:solidFill>
              </a:defRPr>
            </a:pPr>
            <a:r>
              <a:t>Embarrassingly Parallel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A pixel's value depends exclusively on its own complex coordinate c. No thread ever needs to read data written by another thread.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400"/>
              </a:spcAft>
              <a:defRPr sz="1600" b="1">
                <a:solidFill>
                  <a:srgbClr val="0284C7"/>
                </a:solidFill>
              </a:defRPr>
            </a:pPr>
            <a:r>
              <a:t>No Locks on Data Buffer</a:t>
            </a:r>
          </a:p>
          <a:p>
            <a:pPr>
              <a:spcAft>
                <a:spcPts val="1400"/>
              </a:spcAft>
              <a:defRPr sz="1200" b="1">
                <a:solidFill>
                  <a:srgbClr val="581C87"/>
                </a:solidFill>
              </a:defRPr>
            </a:pPr>
            <a:r>
              <a:t>Disjoint Memory Writes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Each thread computes independent scanlines and writes directly into its assigned slice of the shared 1D buffer: index = y * width + 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400"/>
              </a:spcAft>
              <a:defRPr sz="1600" b="1">
                <a:solidFill>
                  <a:srgbClr val="059669"/>
                </a:solidFill>
              </a:defRPr>
            </a:pPr>
            <a:r>
              <a:t>Distribution is the Problem</a:t>
            </a:r>
          </a:p>
          <a:p>
            <a:pPr>
              <a:spcAft>
                <a:spcPts val="1400"/>
              </a:spcAft>
              <a:defRPr sz="1200" b="1">
                <a:solidFill>
                  <a:srgbClr val="581C87"/>
                </a:solidFill>
              </a:defRPr>
            </a:pPr>
            <a:r>
              <a:t>Spatial Load Imbalance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Computing cost varies from 1 to 1000 iterations per pixel. Equal row division creates severe bottlenecks, requiring dynamic scheduling.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581C87"/>
                </a:solidFill>
              </a:defRPr>
            </a:pPr>
            <a:r>
              <a:t>Static vs. dynamic scheduling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600"/>
              </a:spcAft>
              <a:defRPr sz="1800" b="1">
                <a:solidFill>
                  <a:srgbClr val="E11D48"/>
                </a:solidFill>
              </a:defRPr>
            </a:pPr>
            <a:r>
              <a:t>schedule(static)</a:t>
            </a:r>
          </a:p>
          <a:p>
            <a:pPr>
              <a:spcAft>
                <a:spcPts val="1200"/>
              </a:spcAft>
              <a:defRPr sz="1200" b="1">
                <a:solidFill>
                  <a:srgbClr val="64748B"/>
                </a:solidFill>
              </a:defRPr>
            </a:pPr>
            <a:r>
              <a:t>Equal Contiguous Blocks, Fixed at Start</a:t>
            </a:r>
          </a:p>
          <a:p>
            <a:pPr>
              <a:spcAft>
                <a:spcPts val="1400"/>
              </a:spcAft>
              <a:defRPr sz="1100">
                <a:solidFill>
                  <a:srgbClr val="581C87"/>
                </a:solidFill>
                <a:latin typeface="Courier New"/>
              </a:defRPr>
            </a:pPr>
            <a:r>
              <a:t>#pragma omp parallel for schedule(static)</a:t>
            </a:r>
            <a:br/>
            <a:r>
              <a:t>for (int y = 0; y &lt; H; ++y) {</a:t>
            </a:r>
            <a:br/>
            <a:r>
              <a:t>    compute_row(y);</a:t>
            </a:r>
            <a:br/>
            <a:r>
              <a:t>}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Deterministic block division: Thread i gets rows [i*H/P, (i+1)*H/P).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Near-zero scheduling overhead at runtime.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Critical Flaw: Threads 1 &amp; 2 handle the dense central cardioid, while Threads 0 &amp; 3 finish outer rows early and sit idle at the barrier.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600"/>
              </a:spcAft>
              <a:defRPr sz="1800" b="1">
                <a:solidFill>
                  <a:srgbClr val="0284C7"/>
                </a:solidFill>
              </a:defRPr>
            </a:pPr>
            <a:r>
              <a:t>schedule(dynamic, 4)</a:t>
            </a:r>
          </a:p>
          <a:p>
            <a:pPr>
              <a:spcAft>
                <a:spcPts val="1200"/>
              </a:spcAft>
              <a:defRPr sz="1200" b="1">
                <a:solidFill>
                  <a:srgbClr val="64748B"/>
                </a:solidFill>
              </a:defRPr>
            </a:pPr>
            <a:r>
              <a:t>Idle Threads Request Next 4 Rows at Runtime</a:t>
            </a:r>
          </a:p>
          <a:p>
            <a:pPr>
              <a:spcAft>
                <a:spcPts val="1400"/>
              </a:spcAft>
              <a:defRPr sz="1100">
                <a:solidFill>
                  <a:srgbClr val="581C87"/>
                </a:solidFill>
                <a:latin typeface="Courier New"/>
              </a:defRPr>
            </a:pPr>
            <a:r>
              <a:t>#pragma omp parallel for schedule(dynamic, 4)</a:t>
            </a:r>
            <a:br/>
            <a:r>
              <a:t>for (int y = 0; y &lt; H; ++y) {</a:t>
            </a:r>
            <a:br/>
            <a:r>
              <a:t>    compute_row(y);</a:t>
            </a:r>
            <a:br/>
            <a:r>
              <a:t>}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Shared work queue dispatches chunks of 4 rows on demand.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Small synchronization overhead per chunk fetch.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Major Advantage: Threads finishing fast exterior rows immediately pull more work, dynamically distributing the cardioid load across all cores.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581C87"/>
                </a:solidFill>
              </a:defRPr>
            </a:pPr>
            <a:r>
              <a:t>Why the workload is uneven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581C87"/>
                </a:solidFill>
              </a:defRPr>
            </a:pPr>
            <a:r>
              <a:t>Spatial Workload Imbalance Analysis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Mandelbrot has extreme spatial irregularity: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Middle 25% of rows contain 59% of all computational work (main cardioid and period bulbs).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Outer 50% of rows contain only 6% of total work (quick escape outside the set).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In a 4-thread static run, middle threads receive ~47% of total work each, while outer threads receive only ~3%.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Result: Middle threads become severe stragglers. The parallel runtime is determined by the slowest thread!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2400" b="1">
                <a:solidFill>
                  <a:srgbClr val="E11D48"/>
                </a:solidFill>
              </a:defRPr>
            </a:pPr>
            <a:r>
              <a:t>59%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of all computation sits in the middle 25% of 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92608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2400" b="1">
                <a:solidFill>
                  <a:srgbClr val="0284C7"/>
                </a:solidFill>
              </a:defRPr>
            </a:pPr>
            <a:r>
              <a:t>6%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of all computation sits in the outer 50% of rows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38912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2400" b="1">
                <a:solidFill>
                  <a:srgbClr val="581C87"/>
                </a:solidFill>
              </a:defRPr>
            </a:pPr>
            <a:r>
              <a:t>47% vs 3%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work given to middle vs outer threads under 4-way static chunking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581C87"/>
                </a:solidFill>
              </a:defRPr>
            </a:pPr>
            <a:r>
              <a:t>OpenMP features that enabled 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685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OpenMP Directive / Feature</a:t>
                      </a:r>
                    </a:p>
                  </a:txBody>
                  <a:tcPr>
                    <a:solidFill>
                      <a:srgbClr val="581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How It is Used in Project</a:t>
                      </a:r>
                    </a:p>
                  </a:txBody>
                  <a:tcPr>
                    <a:solidFill>
                      <a:srgbClr val="581C87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#pragma omp parallel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Splits the outer row loop (y) across the thread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schedule(static)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Divides rows into equal contiguous blocks fixed at loop start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schedule(dynamic,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Assigns 4-row chunks on-demand via shared runtime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omp_set_num_threads(t)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Configures worker thread count for 1, 2, 4, 8, 12 benchmark runs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Implicit barrier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Guarantees all threads finish before stopping the timer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std::chrono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High-precision wall-clock timing in milliseconds for benchmarks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55279" y="1463040"/>
            <a:ext cx="34747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</a:defRPr>
            </a:pPr>
            <a:r>
              <a:t>Why Dynamic Wins</a:t>
            </a:r>
          </a:p>
          <a:p>
            <a:pPr>
              <a:spcAft>
                <a:spcPts val="1400"/>
              </a:spcAft>
              <a:defRPr sz="1200" b="1">
                <a:solidFill>
                  <a:srgbClr val="581C87"/>
                </a:solidFill>
              </a:defRPr>
            </a:pPr>
            <a:r>
              <a:t>schedule(dynamic, 4)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The OpenMP runtime maintains an atomic shared queue of 4-row chunks.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When an exterior thread finishes early, it immediately pulls another chunk.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Faster threads shoulder more total rows, balancing total execution time.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Eliminates the straggler problem completely!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581C87"/>
                </a:solidFill>
              </a:defRPr>
            </a:pPr>
            <a:r>
              <a:t>Benchmark: method and measured times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581C87"/>
                </a:solidFill>
              </a:defRPr>
            </a:pPr>
            <a:r>
              <a:t>Speedup Method</a:t>
            </a:r>
          </a:p>
          <a:p>
            <a:pPr>
              <a:spcAft>
                <a:spcPts val="1200"/>
              </a:spcAft>
              <a:defRPr sz="1600" b="1">
                <a:solidFill>
                  <a:srgbClr val="E11D48"/>
                </a:solidFill>
              </a:defRPr>
            </a:pPr>
            <a:r>
              <a:t>S(p) = T(1) / T(p)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Self-Relative Speedup: Each parallel strategy is compared against single-thread baseline.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Efficiency: E(p) = S(p) / p * 100%.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Thread Counts: 1, 2, 4, 8, 12 threads tested on Intel Core i5-13420H.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Same C++ code executed across all configurations.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480560" y="1463040"/>
          <a:ext cx="69494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188720"/>
                <a:gridCol w="1188720"/>
                <a:gridCol w="1188720"/>
                <a:gridCol w="1280160"/>
                <a:gridCol w="1188720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Threads</a:t>
                      </a:r>
                    </a:p>
                  </a:txBody>
                  <a:tcPr>
                    <a:solidFill>
                      <a:srgbClr val="581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Static (ms)</a:t>
                      </a:r>
                    </a:p>
                  </a:txBody>
                  <a:tcPr>
                    <a:solidFill>
                      <a:srgbClr val="581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Dynamic (ms)</a:t>
                      </a:r>
                    </a:p>
                  </a:txBody>
                  <a:tcPr>
                    <a:solidFill>
                      <a:srgbClr val="581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Static Spd</a:t>
                      </a:r>
                    </a:p>
                  </a:txBody>
                  <a:tcPr>
                    <a:solidFill>
                      <a:srgbClr val="581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Dynamic Spd</a:t>
                      </a:r>
                    </a:p>
                  </a:txBody>
                  <a:tcPr>
                    <a:solidFill>
                      <a:srgbClr val="581C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Dynamic Eff</a:t>
                      </a:r>
                    </a:p>
                  </a:txBody>
                  <a:tcPr>
                    <a:solidFill>
                      <a:srgbClr val="581C8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1345.43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1338.51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1.00x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1.00x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679.81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670.41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1.98x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2.00x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99.8%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638.49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338.92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2.11x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3.95x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98.7%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416.64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207.43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3.23x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6.45x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80.7%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339.12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157.33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3.97x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8.51x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70.9%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581C87"/>
                </a:solidFill>
              </a:defRPr>
            </a:pPr>
            <a:r>
              <a:t>Self-relative speedup results</a:t>
            </a:r>
          </a:p>
        </p:txBody>
      </p:sp>
      <p:pic>
        <p:nvPicPr>
          <p:cNvPr id="4" name="Picture 3" descr="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463040"/>
            <a:ext cx="42062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3.95x vs. 2.11x (at 4 threads)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Dynamic scheduling achieves 98.7% parallel efficiency. Static scheduling hits a ceiling of 2.11x due to cardioid stragglers.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3063240"/>
            <a:ext cx="42062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300" b="1">
                <a:solidFill>
                  <a:srgbClr val="E11D48"/>
                </a:solidFill>
              </a:defRPr>
            </a:pPr>
            <a:r>
              <a:t>8.51x vs. 3.97x (at 12 threads)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Dynamic scheduling delivers more than double the speedup of static scheduling (71% vs. 33% efficiency).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4663440"/>
            <a:ext cx="42062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300" b="1">
                <a:solidFill>
                  <a:srgbClr val="64748B"/>
                </a:solidFill>
              </a:defRPr>
            </a:pPr>
            <a:r>
              <a:t>Why efficiency drops after 8 threads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Threads 9–12 run on Intel's Efficient cores (E-cores) and Hyper-Threading shares execution pipelines on P-cores.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581C87"/>
                </a:solidFill>
              </a:defRPr>
            </a:pPr>
            <a:r>
              <a:t>Live visualizer: watching calculations in real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581C87"/>
                </a:solidFill>
              </a:defRPr>
            </a:pPr>
            <a:r>
              <a:t>🧵 Core Allocation Map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Color-codes every row by the thread that calculated it. Visually confirms how static chunks form rigid bands while dynamic chunks interleave dynamically.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581C87"/>
                </a:solidFill>
              </a:defRPr>
            </a:pPr>
            <a:r>
              <a:t>⚡ Flexible Core Scaling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Interactive toggle for 1, 2, 4, 8, 12, or 16 cores with live CPU load meters showing iteration balance.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581C87"/>
                </a:solidFill>
              </a:defRPr>
            </a:pPr>
            <a:r>
              <a:t>🎨 Multiple Color Themes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Royal Amethyst, Quanta Cyan, Classic Electric, Sunset, and Cyber Emerald palettes.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581C87"/>
                </a:solidFill>
              </a:defRPr>
            </a:pPr>
            <a:r>
              <a:t>🔍 Real-Time Pixel Telemetry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Inspects HEX/RGB codes, iteration counts, complex plane coordinates, and thread owners on mouse hover.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3291840"/>
          </a:xfrm>
          <a:prstGeom prst="roundRect">
            <a:avLst/>
          </a:prstGeom>
          <a:solidFill>
            <a:srgbClr val="2D1B54"/>
          </a:solidFill>
          <a:ln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800"/>
              </a:spcAft>
              <a:defRPr sz="2600" b="1">
                <a:solidFill>
                  <a:srgbClr val="D8B4FE"/>
                </a:solidFill>
              </a:defRPr>
            </a:pPr>
            <a:r>
              <a:t>3.95x vs. 2.11x</a:t>
            </a:r>
          </a:p>
          <a:p>
            <a:pPr>
              <a:spcAft>
                <a:spcPts val="1200"/>
              </a:spcAft>
              <a:defRPr sz="1300" b="1">
                <a:solidFill>
                  <a:srgbClr val="FFFFFF"/>
                </a:solidFill>
              </a:defRPr>
            </a:pPr>
            <a:r>
              <a:t>Dynamic vs. Static Speedup at 4 Threads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Eliminates the cardioid bottleneck, maintaining near-100% CPU utilization.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3291840"/>
          </a:xfrm>
          <a:prstGeom prst="roundRect">
            <a:avLst/>
          </a:prstGeom>
          <a:solidFill>
            <a:srgbClr val="2D1B54"/>
          </a:solidFill>
          <a:ln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800"/>
              </a:spcAft>
              <a:defRPr sz="2600" b="1">
                <a:solidFill>
                  <a:srgbClr val="D8B4FE"/>
                </a:solidFill>
              </a:defRPr>
            </a:pPr>
            <a:r>
              <a:t>8.51x</a:t>
            </a:r>
          </a:p>
          <a:p>
            <a:pPr>
              <a:spcAft>
                <a:spcPts val="1200"/>
              </a:spcAft>
              <a:defRPr sz="1300" b="1">
                <a:solidFill>
                  <a:srgbClr val="FFFFFF"/>
                </a:solidFill>
              </a:defRPr>
            </a:pPr>
            <a:r>
              <a:t>Peak Dynamic Speedup at 12 Threads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Static scheduling caps at 3.97x (less than half the performance).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3291840"/>
          </a:xfrm>
          <a:prstGeom prst="roundRect">
            <a:avLst/>
          </a:prstGeom>
          <a:solidFill>
            <a:srgbClr val="2D1B54"/>
          </a:solidFill>
          <a:ln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800"/>
              </a:spcAft>
              <a:defRPr sz="2600" b="1">
                <a:solidFill>
                  <a:srgbClr val="D8B4FE"/>
                </a:solidFill>
              </a:defRPr>
            </a:pPr>
            <a:r>
              <a:t>59%</a:t>
            </a:r>
          </a:p>
          <a:p>
            <a:pPr>
              <a:spcAft>
                <a:spcPts val="1200"/>
              </a:spcAft>
              <a:defRPr sz="1300" b="1">
                <a:solidFill>
                  <a:srgbClr val="FFFFFF"/>
                </a:solidFill>
              </a:defRPr>
            </a:pPr>
            <a:r>
              <a:t>of All Work Sits in Middle 25% of Rows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Why static block partitioning fundamentally fails on fractal algorithms.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698480" cy="1005840"/>
          </a:xfrm>
          <a:prstGeom prst="roundRect">
            <a:avLst/>
          </a:prstGeom>
          <a:solidFill>
            <a:srgbClr val="180F2D"/>
          </a:solidFill>
          <a:ln>
            <a:solidFill>
              <a:srgbClr val="4C1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50">
                <a:solidFill>
                  <a:srgbClr val="E2E8F0"/>
                </a:solidFill>
              </a:defRPr>
            </a:pPr>
            <a:r>
              <a:t>• Uneven computational cost causes static scheduling to stall. Dynamic scheduling cures load imbalance with a one-clause change.</a:t>
            </a:r>
            <a:br/>
            <a:r>
              <a:t>• Efficiency scales near-linearly up to physical P-cores, then tapers off as E-cores and Hyper-Threads are utilized.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581C87"/>
                </a:solidFill>
              </a:defRPr>
            </a:pPr>
            <a:r>
              <a:t>References &amp; resources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 bIns="365760"/>
          <a:lstStyle/>
          <a:p>
            <a:pPr algn="ctr">
              <a:spcAft>
                <a:spcPts val="1600"/>
              </a:spcAft>
              <a:defRPr sz="1800" b="1">
                <a:solidFill>
                  <a:srgbClr val="581C87"/>
                </a:solidFill>
              </a:defRPr>
            </a:pPr>
            <a:r>
              <a:t>Academic &amp; Technical Literature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1. OpenMP Architecture Review Board, 'OpenMP Application Programming Interface Specification', Version 5.2, November 2021. Available: https://www.openmp.org/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2. R. Chandra, L. Dagum, D. Kohr, D. Maydan, J. McDonald, and R. Menon, 'Parallel Programming in OpenMP', Morgan Kaufmann Publishers, 2001.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3. P. Pacheco, 'An Introduction to Parallel Programming', Morgan Kaufmann / Elsevier, 2011.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4. B. B. Mandelbrot, 'The Fractal Geometry of Nature', W. H. Freeman and Company, New York, 1982.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5. Intel Corporation, '13th Gen Intel Core Processor Datasheet, Volume 1: Architecture and Hybrid Multiprocessing', 2023.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